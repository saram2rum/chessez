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MAE 정당화 카드: (1) Beyond Accuracy 2025 가 거의 같은 일을 하면서 MAE 사용, (2) Hyndman 표준, (3) Stockfish 자체 정의.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라그랑주 완화 + 이분탐색이지 KKT 직접 만족은 아님. 이산 문제라 엄밀히는 쌍대 갭 존재할 수 있지만 N 크면 무시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체스 엔진 위치별 검색 시간 배분의</a:t>
            </a:r>
          </a:p>
          <a:p>
            <a:r>
              <a:t>이론적 잠재력과 정적 FEN 특징의 한계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라그랑주 천장 분석 + 정적 특징의 best_t 상관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동기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Stockfish 는 위치마다 평가 수렴 속도가 다르다</a:t>
            </a:r>
          </a:p>
          <a:p>
            <a:pPr/>
            <a:r>
              <a:rPr sz="1800"/>
              <a:t>결판 위치는 짧은 시간으로도 정확, 복잡한 위치는 더 긴 시간 필요</a:t>
            </a:r>
          </a:p>
          <a:p>
            <a:pPr/>
            <a:r>
              <a:rPr sz="1800"/>
              <a:t>동일 시간 예산에서 위치별로 시간을 차등 배분하면 평가 정확도가 개선될 수 있을까?</a:t>
            </a:r>
          </a:p>
          <a:p>
            <a:pPr/>
            <a:r>
              <a:rPr sz="1800"/>
              <a:t>핵심 질문:</a:t>
            </a:r>
          </a:p>
          <a:p>
            <a:pPr lvl="1"/>
            <a:r>
              <a:rPr sz="1800"/>
              <a:t>Q1. 이론적으로 얼마나 개선 가능한가? (천장)</a:t>
            </a:r>
          </a:p>
          <a:p>
            <a:pPr lvl="1"/>
            <a:r>
              <a:rPr sz="1800"/>
              <a:t>Q2. 정적 FEN 특징만으로 그 잠재력을 실현할 수 있나?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평가 메트릭 — win% 공간 MAE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MAE = (1/N) Σ |p̂_i − p*_i| in win% [0, 100]</a:t>
            </a:r>
          </a:p>
          <a:p>
            <a:pPr/>
            <a:r>
              <a:rPr sz="1800"/>
              <a:t>win% 변환: Lichess 시그모이드 (계수 0.00368208)</a:t>
            </a:r>
          </a:p>
          <a:p>
            <a:pPr lvl="1"/>
            <a:r>
              <a:rPr sz="1800"/>
              <a:t>cp 의 위치 의존적 비선형성 제거</a:t>
            </a:r>
          </a:p>
          <a:p>
            <a:pPr lvl="1"/>
            <a:r>
              <a:rPr sz="1800"/>
              <a:t>Stockfish 자체도 fishtest LTC 모델로 cp ↔ win prob 매핑 정의</a:t>
            </a:r>
          </a:p>
          <a:p>
            <a:pPr/>
            <a:r>
              <a:rPr sz="1800"/>
              <a:t>MAE 선택 근거:</a:t>
            </a:r>
          </a:p>
          <a:p>
            <a:pPr lvl="1"/>
            <a:r>
              <a:rPr sz="1800"/>
              <a:t>Beyond Accuracy (Avalle 2025) — chess eval stability MAE 표준</a:t>
            </a:r>
          </a:p>
          <a:p>
            <a:pPr lvl="1"/>
            <a:r>
              <a:rPr sz="1800"/>
              <a:t>Hyndman &amp; Koehler (2006) — forecast accuracy 일반 표준</a:t>
            </a:r>
          </a:p>
          <a:p>
            <a:pPr lvl="1"/>
            <a:r>
              <a:rPr sz="1800"/>
              <a:t>bounded space 에서 MSE 의 %p² 해석 불가 / KL 은 점 비교 부적합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 — 라그랑주 천장: 문제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N = 2927 FEN, 시간 후보 10개 (50~500 ms)</a:t>
            </a:r>
          </a:p>
          <a:p>
            <a:pPr/>
            <a:r>
              <a:rPr sz="1800"/>
              <a:t>각 FEN i 에 시간 인덱스 j_i 배정:</a:t>
            </a:r>
          </a:p>
          <a:p>
            <a:pPr lvl="1"/>
            <a:r>
              <a:rPr sz="1800"/>
              <a:t>최소화: Σ_i |err_{i, j_i}|</a:t>
            </a:r>
          </a:p>
          <a:p>
            <a:pPr lvl="1"/>
            <a:r>
              <a:rPr sz="1800"/>
              <a:t>제약: (1/N) Σ_i t_{j_i} ≤ 250 ms</a:t>
            </a:r>
          </a:p>
          <a:p>
            <a:pPr/>
            <a:r>
              <a:rPr sz="1800"/>
              <a:t>변수 공간: 10^N — 직접 탐색 불가</a:t>
            </a:r>
          </a:p>
          <a:p>
            <a:pPr/>
            <a:r>
              <a:rPr sz="1800"/>
              <a:t>제약이 모든 FEN 을 묶어 독립 풀이 불가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 — 라그랑주 완화 + 이분탐색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제약을 시간 가격 α 로 흡수: L(α) = Σ_i (|err_{i, j_i}| + α · t_{j_i})</a:t>
            </a:r>
          </a:p>
          <a:p>
            <a:pPr/>
            <a:r>
              <a:rPr sz="1800"/>
              <a:t>α 고정 시 각 FEN 독립 argmin → 계산 가능</a:t>
            </a:r>
          </a:p>
          <a:p>
            <a:pPr/>
            <a:r>
              <a:rPr sz="1800"/>
              <a:t>평균 시간 mt(α) 는 α 에 대해 단조감소</a:t>
            </a:r>
          </a:p>
          <a:p>
            <a:pPr lvl="1"/>
            <a:r>
              <a:rPr sz="1800"/>
              <a:t>α=0: 시간 비용 0 → 다 긴 시간 → mt 최대</a:t>
            </a:r>
          </a:p>
          <a:p>
            <a:pPr lvl="1"/>
            <a:r>
              <a:rPr sz="1800"/>
              <a:t>α→∞: 시간 비용 무한 → 다 50ms → mt 최소</a:t>
            </a:r>
          </a:p>
          <a:p>
            <a:pPr/>
            <a:r>
              <a:rPr sz="1800"/>
              <a:t>이분탐색으로 mt(α*) = 250ms 인 α* 탐색 (80회 반복)</a:t>
            </a:r>
          </a:p>
          <a:p>
            <a:pPr/>
            <a:r>
              <a:rPr sz="1800"/>
              <a:t>이 시점의 시간 배정이 도달 가능한 천장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 — 천장 결과: wu 대비 38% 개선 잠재력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029200"/>
              </a:tblGrid>
              <a:tr h="508000">
                <a:tc>
                  <a:txBody>
                    <a:bodyPr/>
                    <a:lstStyle/>
                    <a:p>
                      <a:r>
                        <a:rPr b="1" sz="18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800"/>
                        <a:t>값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00"/>
                        <a:t>FEN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2927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00"/>
                        <a:t>wu(250)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1.8029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00"/>
                        <a:t>라그랑주 천장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1.1185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00"/>
                        <a:t>천장 평균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243.0 ms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00"/>
                        <a:t>wu − 천장 격차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+0.6844 %p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00"/>
                        <a:t>상대 개선 잠재력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38.0%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00"/>
                        <a:t>paired bootstrap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10,000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00"/>
                        <a:t>CI95 (wu − ceil)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양수, 0 미포함 (유의)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 — 천장 시간 분포 (단일 최적 시간 X)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5636">
                <a:tc>
                  <a:txBody>
                    <a:bodyPr/>
                    <a:lstStyle/>
                    <a:p>
                      <a:r>
                        <a:rPr b="1" sz="1400"/>
                        <a:t>검색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배정된 FEN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비중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400"/>
                        <a:t>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19.1%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400"/>
                        <a:t>100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12.1%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400"/>
                        <a:t>150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9.5%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400"/>
                        <a:t>200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9.6%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400"/>
                        <a:t>250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8.1%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400"/>
                        <a:t>300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7.9%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400"/>
                        <a:t>350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8.0%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400"/>
                        <a:t>400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8.8%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400"/>
                        <a:t>450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8.1%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400"/>
                        <a:t>500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 — 시간만 늘려서는 천장에 도달 못함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가장 짧은 50ms uniform MAE = 2.4201</a:t>
            </a:r>
          </a:p>
          <a:p>
            <a:pPr/>
            <a:r>
              <a:rPr sz="1800"/>
              <a:t>표준 250ms uniform MAE = 1.8029 (wu)</a:t>
            </a:r>
          </a:p>
          <a:p>
            <a:pPr/>
            <a:r>
              <a:rPr sz="1800"/>
              <a:t>가장 긴 500ms uniform MAE = 1.5396</a:t>
            </a:r>
          </a:p>
          <a:p>
            <a:pPr/>
            <a:r>
              <a:rPr sz="1800"/>
              <a:t>라그랑주 천장 MAE = 1.1185 (평균 시간 ≈ 250ms)</a:t>
            </a:r>
          </a:p>
          <a:p>
            <a:pPr/>
            <a:r>
              <a:rPr sz="1800"/>
              <a:t>단순 시간 증가만으로는 격차 못 메움 — 위치별 배분이 핵심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 — 정적 FEN 특징의 한계: 접근법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각 FEN 의 best_t = argmin_t |p̂_i^t − p*_i|</a:t>
            </a:r>
          </a:p>
          <a:p>
            <a:pPr/>
            <a:r>
              <a:rPr sz="1800"/>
              <a:t>정적 feature 후보 7개:</a:t>
            </a:r>
          </a:p>
          <a:p>
            <a:pPr lvl="1"/>
            <a:r>
              <a:rPr sz="1800"/>
              <a:t>imbalance, capture_count, legal_moves, total_material</a:t>
            </a:r>
          </a:p>
          <a:p>
            <a:pPr lvl="1"/>
            <a:r>
              <a:rPr sz="1800"/>
              <a:t>forcing_total, is_check, is_endgame</a:t>
            </a:r>
          </a:p>
          <a:p>
            <a:pPr/>
            <a:r>
              <a:rPr sz="1800"/>
              <a:t>측정: Spearman ρ(feature, best_t) + ANOVA F</a:t>
            </a:r>
          </a:p>
          <a:p>
            <a:pPr/>
            <a:r>
              <a:rPr sz="1800"/>
              <a:t>기대: ρ 크면 그 feature 가 best_t 예측 신호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 — 모든 정적 feature 의 ρ &lt; 0.05 (노이즈 수준)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1828800"/>
              </a:tblGrid>
              <a:tr h="571500">
                <a:tc>
                  <a:txBody>
                    <a:bodyPr/>
                    <a:lstStyle/>
                    <a:p>
                      <a:r>
                        <a:rPr b="1" sz="180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800"/>
                        <a:t>Spearman 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800"/>
                        <a:t>ANOVA F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/>
                        <a:t>imbalance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-0.0442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5.29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/>
                        <a:t>capture_count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-0.0152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1.09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/>
                        <a:t>legal_moves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-0.0202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2.00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/>
                        <a:t>total_material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-0.0229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2.24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/>
                        <a:t>forcing_total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-0.0457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2.14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/>
                        <a:t>is_check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-0.0289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1.68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/>
                        <a:t>is_endgame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+0.0395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2.24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 — 정적 휴리스틱: 공정 비교에서 모두 패배 또는 동등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9144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1828800"/>
                <a:gridCol w="2286000"/>
              </a:tblGrid>
              <a:tr h="914400">
                <a:tc>
                  <a:txBody>
                    <a:bodyPr/>
                    <a:lstStyle/>
                    <a:p>
                      <a:r>
                        <a:rPr b="1" sz="1600"/>
                        <a:t>변형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S/M/L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평균시간(ms)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vs wu 판정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/>
                        <a:t>V0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100/250/400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245.7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wu 우월 (-1.81%)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/>
                        <a:t>relaxed 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100/250/400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248.5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wu 우월 (-1.62%)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/>
                        <a:t>relaxed 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100/250/400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256.0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예산 초과 (266ms)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600"/>
                        <a:t>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100/200/500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251.3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wu 우월 (-1.94%)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 — 왜 FEN 만으로는 한계인가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Stockfish 가 시간을 더 줘야 의미 있는 위치</a:t>
            </a:r>
          </a:p>
          <a:p>
            <a:pPr lvl="1"/>
            <a:r>
              <a:rPr sz="1800"/>
              <a:t>= 장기 전술 라인 (10+ 수 깊이) 이 있는 위치</a:t>
            </a:r>
          </a:p>
          <a:p>
            <a:pPr lvl="1"/>
            <a:r>
              <a:rPr sz="1800"/>
              <a:t>= 표면 특징에서 안 드러나는 깊은 분기 복잡도</a:t>
            </a:r>
          </a:p>
          <a:p>
            <a:pPr/>
            <a:r>
              <a:rPr sz="1800"/>
              <a:t>FEN 은 탐색 트리의 root 만 묘사 — 안쪽 분기는 안 보임</a:t>
            </a:r>
          </a:p>
          <a:p>
            <a:pPr/>
          </a:p>
          <a:p>
            <a:pPr/>
            <a:r>
              <a:rPr sz="1800"/>
              <a:t>이는 마치 미로 입구에서 그 미로가 얼마나 복잡할지</a:t>
            </a:r>
          </a:p>
          <a:p>
            <a:pPr/>
            <a:r>
              <a:rPr sz="1800"/>
              <a:t>예측하려는 것과 같다 — 표면 정보만으로는</a:t>
            </a:r>
          </a:p>
          <a:p>
            <a:pPr/>
            <a:r>
              <a:rPr sz="1800"/>
              <a:t>안쪽 분기의 깊이를 알 수 없다.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긍정적 발견 (천장 분석):</a:t>
            </a:r>
          </a:p>
          <a:p>
            <a:pPr lvl="1"/>
            <a:r>
              <a:rPr sz="1800"/>
              <a:t>위치별 시간 배분에 의한 MAE 개선의 이론적 여지 = wu 대비 38%</a:t>
            </a:r>
          </a:p>
          <a:p>
            <a:pPr/>
            <a:r>
              <a:rPr sz="1800"/>
              <a:t>부정적 발견 (정적 특징):</a:t>
            </a:r>
          </a:p>
          <a:p>
            <a:pPr lvl="1"/>
            <a:r>
              <a:rPr sz="1800"/>
              <a:t>7개 정적 FEN 특징 모두 |ρ| &lt; 0.05 의 노이즈 수준 상관</a:t>
            </a:r>
          </a:p>
          <a:p>
            <a:pPr lvl="1"/>
            <a:r>
              <a:rPr sz="1800"/>
              <a:t>모든 휴리스틱 변형이 공정 시간 예산에서 wu 와 동등 또는 패배</a:t>
            </a:r>
          </a:p>
          <a:p>
            <a:pPr/>
            <a:r>
              <a:rPr sz="1800"/>
              <a:t>시사: 천장 도달에는 더 강한 신호 필요</a:t>
            </a:r>
          </a:p>
          <a:p>
            <a:pPr lvl="1"/>
            <a:r>
              <a:rPr sz="1800"/>
              <a:t>학습 기반 (NN), 다중 깊이 평가, 게임 트리 분기 분석 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예상 질문 — 메트릭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Q. 왜 MAE? MSE/KL 도 가능하지 않나?</a:t>
            </a:r>
          </a:p>
          <a:p>
            <a:pPr lvl="1"/>
            <a:r>
              <a:rPr sz="1800"/>
              <a:t>A. Beyond Accuracy (2025), Hyndman &amp; Koehler (2006) 표준</a:t>
            </a:r>
          </a:p>
          <a:p>
            <a:pPr lvl="1"/>
            <a:r>
              <a:rPr sz="1800"/>
              <a:t>MSE: %p² 해석 불가, 극단 오차 비선형 가중</a:t>
            </a:r>
          </a:p>
          <a:p>
            <a:pPr lvl="1"/>
            <a:r>
              <a:rPr sz="1800"/>
              <a:t>KL: 점 추정 비교 부적합, 경계 발산</a:t>
            </a:r>
          </a:p>
          <a:p>
            <a:pPr/>
            <a:r>
              <a:rPr sz="1800"/>
              <a:t>Q. Ground truth 는 진짜 정답인가?</a:t>
            </a:r>
          </a:p>
          <a:p>
            <a:pPr lvl="1"/>
            <a:r>
              <a:rPr sz="1800"/>
              <a:t>A. Lichess/chess.com 표준 — deeper Stockfish 를 reference</a:t>
            </a:r>
          </a:p>
          <a:p>
            <a:pPr lvl="1"/>
            <a:r>
              <a:rPr sz="1800"/>
              <a:t>절대 정답 X, 분야 합의된 근사</a:t>
            </a:r>
          </a:p>
          <a:p>
            <a:pPr/>
            <a:r>
              <a:rPr sz="1800"/>
              <a:t>Q. cp 가 표준 아닌가?</a:t>
            </a:r>
          </a:p>
          <a:p>
            <a:pPr lvl="1"/>
            <a:r>
              <a:rPr sz="1800"/>
              <a:t>A. 플레이어 품질 측정은 cp(ACPL), 엔진 평가 정확도는 win% 가 표준 (Lichess accuracy)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예상 질문 — 천장 &amp; 정적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Q. 라그랑주 = KKT 만족?</a:t>
            </a:r>
          </a:p>
          <a:p>
            <a:pPr lvl="1"/>
            <a:r>
              <a:rPr sz="1800"/>
              <a:t>A. 엄밀히는 이산 문제라 라그랑주 쌍대 문제의 최적 승수를 이분탐색</a:t>
            </a:r>
          </a:p>
          <a:p>
            <a:pPr lvl="1"/>
            <a:r>
              <a:rPr sz="1800"/>
              <a:t>연속 완화 관점에서 KKT (상보 여유성) 성립</a:t>
            </a:r>
          </a:p>
          <a:p>
            <a:pPr/>
            <a:r>
              <a:rPr sz="1800"/>
              <a:t>Q. ρ &lt; 0.05 가 noise 라는 근거?</a:t>
            </a:r>
          </a:p>
          <a:p>
            <a:pPr lvl="1"/>
            <a:r>
              <a:rPr sz="1800"/>
              <a:t>A. p&lt;0.05 통계적 유의도와 별개, 효과 크기로 매우 약함</a:t>
            </a:r>
          </a:p>
          <a:p>
            <a:pPr lvl="1"/>
            <a:r>
              <a:rPr sz="1800"/>
              <a:t>ANOVA F 도 cp50_abs(엔진 신호) 의 10.53 대비 5 이하</a:t>
            </a:r>
          </a:p>
          <a:p>
            <a:pPr/>
            <a:r>
              <a:rPr sz="1800"/>
              <a:t>Q. 더 정교한 feature 안 시도했나?</a:t>
            </a:r>
          </a:p>
          <a:p>
            <a:pPr lvl="1"/>
            <a:r>
              <a:rPr sz="1800"/>
              <a:t>A. 7개 feature 의 |ρ| 다 &lt; 0.05 면 조합으로도 한계</a:t>
            </a:r>
          </a:p>
          <a:p>
            <a:pPr lvl="1"/>
            <a:r>
              <a:rPr sz="1800"/>
              <a:t>(개별 weak 신호의 조합 한계 √Σρ² ≈ 0.10)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