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300" b="1">
                <a:solidFill>
                  <a:srgbClr val="1F4E79"/>
                </a:solidFill>
              </a:rPr>
              <a:t>방법 — 정적 feature를 RandomForest 회귀에 넣어 적정 탐색시간(best_t) 예측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/>
              <a:t>질문: 국면을 보는 것만으로(=정적 정보) "이 국면엔 몇 ms를 쓰면 좋은가"를 예측해, 그 시간을 배분하면 평가 품질(MAE)이 균일 배분보다 좋아지는가?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2011680" cy="9601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1">
                <a:solidFill>
                  <a:srgbClr val="FFFFFF"/>
                </a:solidFill>
              </a:rPr>
              <a:t>국면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(FEN)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78024" y="1623060"/>
            <a:ext cx="292608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</a:rPr>
              <a:t>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79776" y="1600200"/>
            <a:ext cx="2011680" cy="9601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1">
                <a:solidFill>
                  <a:srgbClr val="FFFFFF"/>
                </a:solidFill>
              </a:rPr>
              <a:t>정적 feature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7개 추출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623060"/>
            <a:ext cx="292608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</a:rPr>
              <a:t>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02352" y="1600200"/>
            <a:ext cx="2011680" cy="9601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RandomForest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회귀 학습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23176" y="1623060"/>
            <a:ext cx="292608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4928" y="1600200"/>
            <a:ext cx="2011680" cy="9601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best_t 예측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→ 50ms 격자로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752" y="1623060"/>
            <a:ext cx="292608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47504" y="1600200"/>
            <a:ext cx="2011680" cy="9601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  <a:r>
              <a:rPr sz="1200" b="1">
                <a:solidFill>
                  <a:srgbClr val="FFFFFF"/>
                </a:solidFill>
              </a:rPr>
              <a:t>그 시간의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평가오차(MAE)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5176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66666"/>
                </a:solidFill>
              </a:rPr>
              <a:t>※ best_t = 각 국면에서 평가오차가 가장 작아지는 탐색시간 (50·100·…·500ms 중 하나). 이걸 정적 feature로 맞힐 수 있는가가 핵심.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46120"/>
            <a:ext cx="5577840" cy="274320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/>
          <a:lstStyle/>
          <a:p>
            <a:pPr algn="ctr"/>
            <a:r>
              <a:rPr sz="1500" b="1">
                <a:solidFill>
                  <a:srgbClr val="1F4E79"/>
                </a:solidFill>
              </a:rPr>
              <a:t>RandomForest(랜덤 포레스트)란?</a:t>
            </a:r>
          </a:p>
          <a:p>
            <a:pPr>
              <a:spcBef>
                <a:spcPts val="500"/>
              </a:spcBef>
            </a:pPr>
            <a:r>
              <a:rPr sz="1200"/>
              <a:t>•  여러 개의 결정트리(decision tree)를 만들어 예측을 평균내는 앙상블 모델</a:t>
            </a:r>
          </a:p>
          <a:p>
            <a:pPr>
              <a:spcBef>
                <a:spcPts val="500"/>
              </a:spcBef>
            </a:pPr>
            <a:r>
              <a:rPr sz="1200"/>
              <a:t>•  각 트리가 feature 값으로 국면을 갈라가며 best_t를 추정 → 비선형·feature 간 상호작용까지 자동으로 포착</a:t>
            </a:r>
          </a:p>
          <a:p>
            <a:pPr>
              <a:spcBef>
                <a:spcPts val="500"/>
              </a:spcBef>
            </a:pPr>
            <a:r>
              <a:rPr sz="1200"/>
              <a:t>•  수작업 임계값·버킷 규칙보다 강력 → "feature에 신호가 조금이라도 있으면 RF가 잡아낸다"는 강한 검증</a:t>
            </a:r>
          </a:p>
          <a:p>
            <a:pPr>
              <a:spcBef>
                <a:spcPts val="500"/>
              </a:spcBef>
            </a:pPr>
            <a:r>
              <a:rPr sz="1200"/>
              <a:t>•  설정: 트리 400개, 잎 최소 5개(과적합 억제). best_t를 연속값으로 직접 예측하는 '회귀'로 사용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46120"/>
            <a:ext cx="5532120" cy="274320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/>
          <a:lstStyle/>
          <a:p>
            <a:pPr algn="ctr"/>
            <a:r>
              <a:rPr sz="1500" b="1">
                <a:solidFill>
                  <a:srgbClr val="1F4E79"/>
                </a:solidFill>
              </a:rPr>
              <a:t>어떻게 검증했나</a:t>
            </a:r>
          </a:p>
          <a:p>
            <a:pPr>
              <a:spcBef>
                <a:spcPts val="500"/>
              </a:spcBef>
            </a:pPr>
            <a:r>
              <a:rPr sz="1200"/>
              <a:t>•  전체 국면을 train 80% / test 20%로 무작위 분할 → train으로 학습, 안 본 test에서만 성능 측정</a:t>
            </a:r>
          </a:p>
          <a:p>
            <a:pPr>
              <a:spcBef>
                <a:spcPts val="500"/>
              </a:spcBef>
            </a:pPr>
            <a:r>
              <a:rPr sz="1200"/>
              <a:t>•  분할을 10번 다르게 반복 → "운 좋은 한 분할" 결과가 아님을 확인</a:t>
            </a:r>
          </a:p>
          <a:p>
            <a:pPr>
              <a:spcBef>
                <a:spcPts val="500"/>
              </a:spcBef>
            </a:pPr>
            <a:r>
              <a:rPr sz="1200"/>
              <a:t>•  비교 대상 wu(균일 정책) = 모든 국면에 같은 시간(250ms)을 주는 정책</a:t>
            </a:r>
          </a:p>
          <a:p>
            <a:pPr>
              <a:spcBef>
                <a:spcPts val="500"/>
              </a:spcBef>
            </a:pPr>
            <a:r>
              <a:rPr sz="1200"/>
              <a:t>•  평가지표 MAE(평균절대오차): 엔진 평가치가 정답에서 얼마나 벗어났나 (낮을수록 좋음)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